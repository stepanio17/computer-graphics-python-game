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82296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64592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46888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29184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11480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93776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58368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9680" y="-1371600"/>
            <a:ext cx="5120640" cy="5120640"/>
          </a:xfrm>
          <a:prstGeom prst="ellipse">
            <a:avLst/>
          </a:prstGeom>
          <a:solidFill>
            <a:srgbClr val="1C271A"/>
          </a:solidFill>
          <a:ln w="12700">
            <a:solidFill>
              <a:srgbClr val="5C7047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92640" y="-548640"/>
            <a:ext cx="3474720" cy="3474720"/>
          </a:xfrm>
          <a:prstGeom prst="ellipse">
            <a:avLst/>
          </a:prstGeom>
          <a:ln w="12700">
            <a:solidFill>
              <a:srgbClr val="26E0D0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«ПРОГРАММНАЯ ИНЖЕНЕРИЯ» · ОТЧЁТ О ПРОЕКТЕ №3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246888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F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«В ТЫЛУ ВРАГА»</a:t>
            </a:r>
            <a:endParaRPr lang="en-US" sz="54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36118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Тактическая аркадная игра с адаптивным движением агента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параметрическим кривым Безье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22960" y="4709160"/>
            <a:ext cx="2926080" cy="0"/>
          </a:xfrm>
          <a:prstGeom prst="line">
            <a:avLst/>
          </a:prstGeom>
          <a:noFill/>
          <a:ln w="19050">
            <a:solidFill>
              <a:srgbClr val="5C704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49377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Бутин Степан Вячеславович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4.309 · Алтайский государственный университет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Институт математики и информационных технологий · Барнаул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ЦЕЛЕПОЛАГАНИЕ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 и актуальность проекта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1C271A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57400"/>
            <a:ext cx="502920" cy="502920"/>
          </a:xfrm>
          <a:prstGeom prst="ellipse">
            <a:avLst/>
          </a:prstGeom>
          <a:solidFill>
            <a:srgbClr val="26E0D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057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6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ПРОЕКТА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74320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E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тактическую игру с адаптивным движением агента по параметрическим кривым Безье в динамической среде.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035040" y="1737360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223021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2057400"/>
            <a:ext cx="502920" cy="502920"/>
          </a:xfrm>
          <a:prstGeom prst="ellipse">
            <a:avLst/>
          </a:prstGeom>
          <a:solidFill>
            <a:srgbClr val="8A9A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057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A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74320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E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Демонстрирует практическое применение математических алгоритмов в интерактивном приложении: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26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полиномы Бернштейна</a:t>
            </a:r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E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для построения плавных траекторий движения;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26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евклидовы расстояния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для системы коллизий агента с угрозами.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ПЛАНИРОВАНИЕ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Задачи проекта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24328" cy="4114800"/>
          </a:xfrm>
          <a:prstGeom prst="roundRect">
            <a:avLst>
              <a:gd name="adj" fmla="val 3136"/>
            </a:avLst>
          </a:prstGeom>
          <a:solidFill>
            <a:srgbClr val="1C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103120"/>
            <a:ext cx="548640" cy="548640"/>
          </a:xfrm>
          <a:prstGeom prst="ellipse">
            <a:avLst/>
          </a:prstGeom>
          <a:solidFill>
            <a:srgbClr val="26E0D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880360"/>
            <a:ext cx="211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E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Игровая логика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703320"/>
            <a:ext cx="21122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взаимодействия пользователя с полем, условия победы и поражения, генерация препятствий.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83864" y="1828800"/>
            <a:ext cx="2624328" cy="4114800"/>
          </a:xfrm>
          <a:prstGeom prst="roundRect">
            <a:avLst>
              <a:gd name="adj" fmla="val 3136"/>
            </a:avLst>
          </a:prstGeom>
          <a:solidFill>
            <a:srgbClr val="223021"/>
          </a:solidFill>
          <a:ln/>
        </p:spPr>
      </p:sp>
      <p:sp>
        <p:nvSpPr>
          <p:cNvPr id="10" name="Shape 8"/>
          <p:cNvSpPr/>
          <p:nvPr/>
        </p:nvSpPr>
        <p:spPr>
          <a:xfrm>
            <a:off x="3739896" y="2103120"/>
            <a:ext cx="548640" cy="548640"/>
          </a:xfrm>
          <a:prstGeom prst="ellipse">
            <a:avLst/>
          </a:prstGeom>
          <a:solidFill>
            <a:srgbClr val="26E0D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39896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739896" y="2880360"/>
            <a:ext cx="211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E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кривой Безье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739896" y="3703320"/>
            <a:ext cx="21122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Нахождение координат на кубической кривой для плавного перемещения агента.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27648" y="1828800"/>
            <a:ext cx="2624328" cy="4114800"/>
          </a:xfrm>
          <a:prstGeom prst="roundRect">
            <a:avLst>
              <a:gd name="adj" fmla="val 3136"/>
            </a:avLst>
          </a:prstGeom>
          <a:solidFill>
            <a:srgbClr val="1C271A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0" y="2103120"/>
            <a:ext cx="548640" cy="548640"/>
          </a:xfrm>
          <a:prstGeom prst="ellipse">
            <a:avLst/>
          </a:prstGeom>
          <a:solidFill>
            <a:srgbClr val="26E0D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2880360"/>
            <a:ext cx="211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E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Коллизии и физика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3703320"/>
            <a:ext cx="21122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столкновений и динамическое изменение скорости на основе анализа цвета поверхности.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71432" y="1828800"/>
            <a:ext cx="2624328" cy="4114800"/>
          </a:xfrm>
          <a:prstGeom prst="roundRect">
            <a:avLst>
              <a:gd name="adj" fmla="val 3136"/>
            </a:avLst>
          </a:prstGeom>
          <a:solidFill>
            <a:srgbClr val="223021"/>
          </a:solidFill>
          <a:ln/>
        </p:spPr>
      </p:sp>
      <p:sp>
        <p:nvSpPr>
          <p:cNvPr id="20" name="Shape 18"/>
          <p:cNvSpPr/>
          <p:nvPr/>
        </p:nvSpPr>
        <p:spPr>
          <a:xfrm>
            <a:off x="9427464" y="2103120"/>
            <a:ext cx="548640" cy="548640"/>
          </a:xfrm>
          <a:prstGeom prst="ellipse">
            <a:avLst/>
          </a:prstGeom>
          <a:solidFill>
            <a:srgbClr val="26E0D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27464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427464" y="2880360"/>
            <a:ext cx="211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E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Анимация и эффекты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9427464" y="3703320"/>
            <a:ext cx="21122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Скелетная ходьба, вращение лопастей дрона, генерация частиц взрыва.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ТРЕБОВАНИЯ К ПРОЕКТУ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F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Функциональные и нефункциональные требования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6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ФУНКЦИОНАЛЬНЫЕ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57984"/>
            <a:ext cx="82296" cy="548640"/>
          </a:xfrm>
          <a:prstGeom prst="rect">
            <a:avLst/>
          </a:prstGeom>
          <a:solidFill>
            <a:srgbClr val="26E0D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ввода: 2 клика ЛКМ — старт маршрута, SPACE — начало игры, R — перезапуск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07792"/>
            <a:ext cx="82296" cy="548640"/>
          </a:xfrm>
          <a:prstGeom prst="rect">
            <a:avLst/>
          </a:prstGeom>
          <a:solidFill>
            <a:srgbClr val="26E0D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852928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Автономное движение дрона по эллиптической траектории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82296" cy="548640"/>
          </a:xfrm>
          <a:prstGeom prst="rect">
            <a:avLst/>
          </a:prstGeom>
          <a:solidFill>
            <a:srgbClr val="26E0D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602736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Коллизии: дистанция &lt; 18px до мины или &lt; 32px до дрона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407408"/>
            <a:ext cx="82296" cy="548640"/>
          </a:xfrm>
          <a:prstGeom prst="rect">
            <a:avLst/>
          </a:prstGeom>
          <a:solidFill>
            <a:srgbClr val="26E0D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352544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новых уровней с ростом числа мин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A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НЕФУНКЦИОНАЛЬНЫЕ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92240" y="214884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1C27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66560" y="2276856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A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800×600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732520" y="2276856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GUI, вывод в консоль запрещён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92240" y="3502152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1C271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66560" y="363016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A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FPS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8732520" y="363016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фиксированная частота обновления экрана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4855464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1C271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66560" y="49834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A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×2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8732520" y="49834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двойная буферизация для плавности кадра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СТЕК ТЕХНОЛОГИЙ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Используемые технологии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1C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57400"/>
            <a:ext cx="411480" cy="411480"/>
          </a:xfrm>
          <a:prstGeom prst="ellipse">
            <a:avLst/>
          </a:prstGeom>
          <a:solidFill>
            <a:srgbClr val="26E0D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20299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060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Базовая вычислительная среда, гибкое управление состояниями объектов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223021"/>
          </a:solidFill>
          <a:ln/>
        </p:spPr>
      </p:sp>
      <p:sp>
        <p:nvSpPr>
          <p:cNvPr id="9" name="Shape 7"/>
          <p:cNvSpPr/>
          <p:nvPr/>
        </p:nvSpPr>
        <p:spPr>
          <a:xfrm>
            <a:off x="4617720" y="2057400"/>
            <a:ext cx="411480" cy="411480"/>
          </a:xfrm>
          <a:prstGeom prst="ellipse">
            <a:avLst/>
          </a:prstGeom>
          <a:solidFill>
            <a:srgbClr val="26E0D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212080" y="20299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Pygame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6060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2D-движок: ввод, послойный рендеринг, попиксельный анализ буфера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1C271A"/>
          </a:solidFill>
          <a:ln/>
        </p:spPr>
      </p:sp>
      <p:sp>
        <p:nvSpPr>
          <p:cNvPr id="13" name="Shape 11"/>
          <p:cNvSpPr/>
          <p:nvPr/>
        </p:nvSpPr>
        <p:spPr>
          <a:xfrm>
            <a:off x="8366760" y="2057400"/>
            <a:ext cx="411480" cy="411480"/>
          </a:xfrm>
          <a:prstGeom prst="ellipse">
            <a:avLst/>
          </a:prstGeom>
          <a:solidFill>
            <a:srgbClr val="26E0D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61120" y="20299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26060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Тригонометрия (sin/cos) для кинематики ходьбы и евклидовых расстояний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223021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4160520"/>
            <a:ext cx="411480" cy="411480"/>
          </a:xfrm>
          <a:prstGeom prst="ellipse">
            <a:avLst/>
          </a:prstGeom>
          <a:solidFill>
            <a:srgbClr val="26E0D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463040" y="41330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7091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векторов искр взрыва и случайное распределение мин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89120" y="393192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1C271A"/>
          </a:solidFill>
          <a:ln/>
        </p:spPr>
      </p:sp>
      <p:sp>
        <p:nvSpPr>
          <p:cNvPr id="21" name="Shape 19"/>
          <p:cNvSpPr/>
          <p:nvPr/>
        </p:nvSpPr>
        <p:spPr>
          <a:xfrm>
            <a:off x="4617720" y="4160520"/>
            <a:ext cx="411480" cy="411480"/>
          </a:xfrm>
          <a:prstGeom prst="ellipse">
            <a:avLst/>
          </a:prstGeom>
          <a:solidFill>
            <a:srgbClr val="26E0D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212080" y="41330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47091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Безопасная работа с файловой системой при загрузке карты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АРХИТЕКТУРА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Loop и автомат состояний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 → обновление физики → рендеринг — итеративно, 60 раз в секунду (pygame.time.Clock)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7432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C271A"/>
          </a:solidFill>
          <a:ln w="15875">
            <a:solidFill>
              <a:srgbClr val="5C70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9077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E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show_rules = True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747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 инструктажа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30632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520440" y="27432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C271A"/>
          </a:solidFill>
          <a:ln w="15875">
            <a:solidFill>
              <a:srgbClr val="5C70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0" y="29077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E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is_moving = False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4747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Ожидание маршрута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30632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355080" y="27432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C271A"/>
          </a:solidFill>
          <a:ln w="15875">
            <a:solidFill>
              <a:srgbClr val="5C70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29077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E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is_moving = True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4747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Активная фаза марша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0" y="30632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9189720" y="27432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2B1414"/>
          </a:solidFill>
          <a:ln w="15875">
            <a:solidFill>
              <a:srgbClr val="E245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0" y="29077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45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game_over = True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34747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Столкновение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663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Триггер восстановления: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8A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нажатие клавиши R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возвращает систему в исходное состояние — очки и уровень сбрасываются, карта регенерируется.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85800" y="548640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22302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5623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Плавность траектории: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на кривой Безье вычисляется через полиномы Бернштейна 3-й степени; предварительный замер длины дуги (20 шагов) устраняет неравномерность движения агента.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6424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00584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01168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01752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02336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502920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03504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ДЕМОНСТРАЦИЯ ФУНКЦИОНАЛА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7772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EF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Стартовый экран: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EF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тактический инструктаж</a:t>
            </a:r>
            <a:endParaRPr lang="en-US" sz="2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1965960"/>
            <a:ext cx="5212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запуске приложение выводит полупрозрачный оверлей с текстом правил (show_rules = True). Экран показывает управление: два клика ЛКМ прокладывают маршрут, скорость зависит от рельефа карты.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к игре — по нажатию клавиши SPACE, после чего show_rules переключается в False и активируется отрисовка игрового поля.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553212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26E0D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5532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1 · ПРОЙДЕН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08776" y="1179576"/>
            <a:ext cx="5458968" cy="4315968"/>
          </a:xfrm>
          <a:prstGeom prst="roundRect">
            <a:avLst>
              <a:gd name="adj" fmla="val 1695"/>
            </a:avLst>
          </a:prstGeom>
          <a:solidFill>
            <a:srgbClr val="0B0F0A"/>
          </a:solidFill>
          <a:ln w="15875">
            <a:solidFill>
              <a:srgbClr val="26E0D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50000"/>
              </a:srgbClr>
            </a:outerShdw>
          </a:effectLst>
        </p:spPr>
      </p:sp>
      <p:pic>
        <p:nvPicPr>
          <p:cNvPr id="26" name="Image 0" descr="/home/claude/work/shot_st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63640" y="1234440"/>
            <a:ext cx="5349240" cy="420624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6424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00584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01168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01752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02336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502920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03504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ДЕМОНСТРАЦИЯ ФУНКЦИОНАЛА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7772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EF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Прокладка маршрута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EF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 кривой Безье</a:t>
            </a:r>
            <a:endParaRPr lang="en-US" sz="2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1965960"/>
            <a:ext cx="5212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двух кликов ЛКМ по карте вызывается build_bezier_path() — агент (солдат) начинает автоматическое перемещение по рассчитанной траектории.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экране одновременно виден вражеский дрон, курсирующий по эллиптической орбите, и мины, отмеченные пульсирующим световым ореолом.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553212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26E0D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5532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2 · ПРОЙДЕН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08776" y="1179576"/>
            <a:ext cx="5458968" cy="4315968"/>
          </a:xfrm>
          <a:prstGeom prst="roundRect">
            <a:avLst>
              <a:gd name="adj" fmla="val 1695"/>
            </a:avLst>
          </a:prstGeom>
          <a:solidFill>
            <a:srgbClr val="0B0F0A"/>
          </a:solidFill>
          <a:ln w="15875">
            <a:solidFill>
              <a:srgbClr val="26E0D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50000"/>
              </a:srgbClr>
            </a:outerShdw>
          </a:effectLst>
        </p:spPr>
      </p:sp>
      <p:pic>
        <p:nvPicPr>
          <p:cNvPr id="26" name="Image 0" descr="/home/claude/work/shot_mo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63640" y="1234440"/>
            <a:ext cx="5349240" cy="420624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6424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00584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01168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01752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02336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502920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03504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18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ДЕМОНСТРАЦИЯ ФУНКЦИОНАЛА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7772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EF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Коллизия и экран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EF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поражения</a:t>
            </a:r>
            <a:endParaRPr lang="en-US" sz="2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1965960"/>
            <a:ext cx="5212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евклидово расстояние до мины становится меньше 18 пикселей (или до дрона — меньше 32), фиксируется столкновение: game_over = True, вызывается эмиттер create_explosion() и включается экран поражения.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Перезапуск выполняется клавишей R — счёт и уровень обнуляются, карта с минами генерируется заново.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553212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E2453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5532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4 · ПРОЙДЕН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08776" y="1179576"/>
            <a:ext cx="5458968" cy="4315968"/>
          </a:xfrm>
          <a:prstGeom prst="roundRect">
            <a:avLst>
              <a:gd name="adj" fmla="val 1695"/>
            </a:avLst>
          </a:prstGeom>
          <a:solidFill>
            <a:srgbClr val="0B0F0A"/>
          </a:solidFill>
          <a:ln w="15875">
            <a:solidFill>
              <a:srgbClr val="26E0D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50000"/>
              </a:srgbClr>
            </a:outerShdw>
          </a:effectLst>
        </p:spPr>
      </p:sp>
      <p:pic>
        <p:nvPicPr>
          <p:cNvPr id="26" name="Image 0" descr="/home/claude/work/shot_defea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63640" y="1234440"/>
            <a:ext cx="5349240" cy="420624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ТЕСТИРОВАНИЕ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F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Функциональное тестирование по Use-Case сценариям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1C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512064" cy="512064"/>
          </a:xfrm>
          <a:prstGeom prst="ellipse">
            <a:avLst/>
          </a:prstGeom>
          <a:solidFill>
            <a:srgbClr val="26E0D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74520"/>
            <a:ext cx="4709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Стартовый экран и переход в рабочий режим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874520"/>
            <a:ext cx="4937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отключает оверлей инструктажа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292840" y="2148840"/>
            <a:ext cx="237744" cy="237744"/>
          </a:xfrm>
          <a:prstGeom prst="ellipse">
            <a:avLst/>
          </a:prstGeom>
          <a:solidFill>
            <a:srgbClr val="3FBE7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770632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1C271A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2907792"/>
            <a:ext cx="512064" cy="512064"/>
          </a:xfrm>
          <a:prstGeom prst="ellipse">
            <a:avLst/>
          </a:prstGeom>
          <a:solidFill>
            <a:srgbClr val="26E0D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29077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770632"/>
            <a:ext cx="4709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Прокладка маршрута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770632"/>
            <a:ext cx="4937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клика ЛКМ → build_bezier_path() → движение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292840" y="3044952"/>
            <a:ext cx="237744" cy="237744"/>
          </a:xfrm>
          <a:prstGeom prst="ellipse">
            <a:avLst/>
          </a:prstGeom>
          <a:solidFill>
            <a:srgbClr val="3FBE7A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666744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1C271A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3803904"/>
            <a:ext cx="512064" cy="512064"/>
          </a:xfrm>
          <a:prstGeom prst="ellipse">
            <a:avLst/>
          </a:prstGeom>
          <a:solidFill>
            <a:srgbClr val="26E0D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38039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666744"/>
            <a:ext cx="4709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Успешное завершение уровня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666744"/>
            <a:ext cx="4937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score/level +1, база и финиш пересчитаны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1292840" y="3941064"/>
            <a:ext cx="237744" cy="237744"/>
          </a:xfrm>
          <a:prstGeom prst="ellipse">
            <a:avLst/>
          </a:prstGeom>
          <a:solidFill>
            <a:srgbClr val="3FBE7A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4562856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1C271A"/>
          </a:solidFill>
          <a:ln/>
        </p:spPr>
      </p:sp>
      <p:sp>
        <p:nvSpPr>
          <p:cNvPr id="23" name="Shape 21"/>
          <p:cNvSpPr/>
          <p:nvPr/>
        </p:nvSpPr>
        <p:spPr>
          <a:xfrm>
            <a:off x="868680" y="4700016"/>
            <a:ext cx="512064" cy="512064"/>
          </a:xfrm>
          <a:prstGeom prst="ellipse">
            <a:avLst/>
          </a:prstGeom>
          <a:solidFill>
            <a:srgbClr val="26E0D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47000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600200" y="4562856"/>
            <a:ext cx="4709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Коллизия (поражение)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4562856"/>
            <a:ext cx="4937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дистанция &lt; 18px/32px → game_over, взрыв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1292840" y="4837176"/>
            <a:ext cx="237744" cy="237744"/>
          </a:xfrm>
          <a:prstGeom prst="ellipse">
            <a:avLst/>
          </a:prstGeom>
          <a:solidFill>
            <a:srgbClr val="3FBE7A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5458968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1C271A"/>
          </a:solidFill>
          <a:ln/>
        </p:spPr>
      </p:sp>
      <p:sp>
        <p:nvSpPr>
          <p:cNvPr id="29" name="Shape 27"/>
          <p:cNvSpPr/>
          <p:nvPr/>
        </p:nvSpPr>
        <p:spPr>
          <a:xfrm>
            <a:off x="868680" y="5596128"/>
            <a:ext cx="512064" cy="512064"/>
          </a:xfrm>
          <a:prstGeom prst="ellipse">
            <a:avLst/>
          </a:prstGeom>
          <a:solidFill>
            <a:srgbClr val="26E0D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8680" y="5596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600200" y="5458968"/>
            <a:ext cx="4709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Перезапуск игры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5458968"/>
            <a:ext cx="4937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сбрасывает очки, уровень и карту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1292840" y="5733288"/>
            <a:ext cx="237744" cy="237744"/>
          </a:xfrm>
          <a:prstGeom prst="ellipse">
            <a:avLst/>
          </a:prstGeom>
          <a:solidFill>
            <a:srgbClr val="3FBE7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6350">
            <a:solidFill>
              <a:srgbClr val="27331F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82296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64592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46888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29184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11480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93776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583680"/>
            <a:ext cx="12188952" cy="0"/>
          </a:xfrm>
          <a:prstGeom prst="line">
            <a:avLst/>
          </a:prstGeom>
          <a:noFill/>
          <a:ln w="6350">
            <a:solidFill>
              <a:srgbClr val="27331F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-2011680" y="3474720"/>
            <a:ext cx="5120640" cy="5120640"/>
          </a:xfrm>
          <a:prstGeom prst="ellipse">
            <a:avLst/>
          </a:prstGeom>
          <a:solidFill>
            <a:srgbClr val="1C271A"/>
          </a:solidFill>
          <a:ln w="12700">
            <a:solidFill>
              <a:srgbClr val="5C7047">
                <a:alpha val="5500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ИТОГИ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10515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Заключение</a:t>
            </a:r>
            <a:endParaRPr lang="en-US" sz="36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192024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Тактическое игровое приложение на Python + Pygame успешно реализовано и полностью выполняет заявленные требования: стабильные 60 FPS, плавное движение по кривым Безье, попиксельная адаптация скорости.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777240" y="3429000"/>
            <a:ext cx="82296" cy="457200"/>
          </a:xfrm>
          <a:prstGeom prst="rect">
            <a:avLst/>
          </a:prstGeom>
          <a:solidFill>
            <a:srgbClr val="26E0D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05840" y="338328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Математическое построение кривых Безье и плавное движение объекта без рывков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77240" y="4050792"/>
            <a:ext cx="82296" cy="457200"/>
          </a:xfrm>
          <a:prstGeom prst="rect">
            <a:avLst/>
          </a:prstGeom>
          <a:solidFill>
            <a:srgbClr val="26E0D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05840" y="4005072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Процедурная анимация персонажа и дрона на синусах/косинусах без спрайтов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77240" y="4672584"/>
            <a:ext cx="82296" cy="457200"/>
          </a:xfrm>
          <a:prstGeom prst="rect">
            <a:avLst/>
          </a:prstGeom>
          <a:solidFill>
            <a:srgbClr val="26E0D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05840" y="4626864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частиц для эффекта взрыва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77240" y="5294376"/>
            <a:ext cx="82296" cy="457200"/>
          </a:xfrm>
          <a:prstGeom prst="rect">
            <a:avLst/>
          </a:prstGeom>
          <a:solidFill>
            <a:srgbClr val="26E0D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05840" y="5248656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столкновений и адаптация скорости к рельефу карты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818120" y="338328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223021"/>
          </a:solidFill>
          <a:ln w="12700">
            <a:solidFill>
              <a:srgbClr val="26E0D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9244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6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ИСХОДНЫЙ КОД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092440" y="40690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F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github.com/stepanio17/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F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computer-graphics-python-game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092440" y="5029200"/>
            <a:ext cx="3108960" cy="0"/>
          </a:xfrm>
          <a:prstGeom prst="line">
            <a:avLst/>
          </a:prstGeom>
          <a:noFill/>
          <a:ln w="12700">
            <a:solidFill>
              <a:srgbClr val="5C704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092440" y="5166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Бутин Степан Вячеславович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4.309 · АлтГУ, 2026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2026-09-02T15:54:42Z</dcterms:created>
  <dcterms:modified xsi:type="dcterms:W3CDTF">2026-09-02T15:54:42Z</dcterms:modified>
</cp:coreProperties>
</file>